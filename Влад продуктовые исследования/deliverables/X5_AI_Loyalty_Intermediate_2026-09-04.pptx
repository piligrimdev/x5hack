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a5815c43184d71" /><Relationship Type="http://schemas.openxmlformats.org/officeDocument/2006/relationships/extended-properties" Target="/docProps/app.xml" Id="R5b14fa93009447f0" /><Relationship Type="http://schemas.openxmlformats.org/officeDocument/2006/relationships/officeDocument" Target="/ppt/presentation.xml" Id="R64e1bda70da747a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76eba5842ea49dc"/>
  </p:sldMasterIdLst>
  <p:notesMasterIdLst>
    <p:notesMasterId xmlns:r="http://schemas.openxmlformats.org/officeDocument/2006/relationships" r:id="Ra0e2a3a2a8aa4380"/>
  </p:notesMasterIdLst>
  <p:sldIdLst>
    <p:sldId xmlns:r="http://schemas.openxmlformats.org/officeDocument/2006/relationships" id="256" r:id="R7d8a10a017054e1f"/>
    <p:sldId xmlns:r="http://schemas.openxmlformats.org/officeDocument/2006/relationships" id="257" r:id="Rf2dac6ecaec44afc"/>
    <p:sldId xmlns:r="http://schemas.openxmlformats.org/officeDocument/2006/relationships" id="258" r:id="R3b0a67aef86843f4"/>
    <p:sldId xmlns:r="http://schemas.openxmlformats.org/officeDocument/2006/relationships" id="259" r:id="R30db1d7b9efd4364"/>
    <p:sldId xmlns:r="http://schemas.openxmlformats.org/officeDocument/2006/relationships" id="260" r:id="Rd5ce5e11ed31474a"/>
    <p:sldId xmlns:r="http://schemas.openxmlformats.org/officeDocument/2006/relationships" id="261" r:id="R2ee3fe9900cb44d1"/>
    <p:sldId xmlns:r="http://schemas.openxmlformats.org/officeDocument/2006/relationships" id="262" r:id="R96ab97c71dc34106"/>
    <p:sldId xmlns:r="http://schemas.openxmlformats.org/officeDocument/2006/relationships" id="263" r:id="R145a3039f94846d2"/>
    <p:sldId xmlns:r="http://schemas.openxmlformats.org/officeDocument/2006/relationships" id="264" r:id="Re876ab8bd1bb4e08"/>
    <p:sldId xmlns:r="http://schemas.openxmlformats.org/officeDocument/2006/relationships" id="265" r:id="R2ffe5cf442184cba"/>
    <p:sldId xmlns:r="http://schemas.openxmlformats.org/officeDocument/2006/relationships" id="266" r:id="Rbf7fe485f4314d49"/>
    <p:sldId xmlns:r="http://schemas.openxmlformats.org/officeDocument/2006/relationships" id="267" r:id="R9b3f4ecc3bd44d7c"/>
    <p:sldId xmlns:r="http://schemas.openxmlformats.org/officeDocument/2006/relationships" id="268" r:id="R477ffcd436fa46b8"/>
  </p:sldIdLst>
  <p:sldSz cx="12192000" cy="6858000"/>
  <p:notesSz cx="6858000" cy="9144000"/>
  <p:embeddedFontLst>
    <p:embeddedFont>
      <p:font typeface="Lora"/>
      <p:regular xmlns:r="http://schemas.openxmlformats.org/officeDocument/2006/relationships" r:id="R9427634883844154"/>
      <p:bold xmlns:r="http://schemas.openxmlformats.org/officeDocument/2006/relationships" r:id="Rc31c5f8cbfec4fa4"/>
      <p:italic xmlns:r="http://schemas.openxmlformats.org/officeDocument/2006/relationships" r:id="R4e1ef36ffbd947ef"/>
      <p:boldItalic xmlns:r="http://schemas.openxmlformats.org/officeDocument/2006/relationships" r:id="R769a62ad66064783"/>
    </p:embeddedFont>
    <p:embeddedFont>
      <p:font typeface="OpenAI Sans"/>
      <p:regular xmlns:r="http://schemas.openxmlformats.org/officeDocument/2006/relationships" r:id="R735efcf026f14f41"/>
      <p:bold xmlns:r="http://schemas.openxmlformats.org/officeDocument/2006/relationships" r:id="Rc6d3be91bfb64fc9"/>
      <p:italic xmlns:r="http://schemas.openxmlformats.org/officeDocument/2006/relationships" r:id="R8737d327abe649e1"/>
      <p:boldItalic xmlns:r="http://schemas.openxmlformats.org/officeDocument/2006/relationships" r:id="R8ed8f9bcee6a4419"/>
    </p:embeddedFont>
    <p:embeddedFont>
      <p:font typeface="Roboto"/>
      <p:regular xmlns:r="http://schemas.openxmlformats.org/officeDocument/2006/relationships" r:id="R67e08d084969450a"/>
      <p:bold xmlns:r="http://schemas.openxmlformats.org/officeDocument/2006/relationships" r:id="R6a22e961e8744cc9"/>
      <p:italic xmlns:r="http://schemas.openxmlformats.org/officeDocument/2006/relationships" r:id="R591894d305744bc7"/>
      <p:boldItalic xmlns:r="http://schemas.openxmlformats.org/officeDocument/2006/relationships" r:id="R15631681515e4e8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d62a10bd9e4e7a" /><Relationship Type="http://schemas.openxmlformats.org/officeDocument/2006/relationships/slideMaster" Target="/ppt/slideMasters/slideMaster1.xml" Id="R276eba5842ea49dc" /><Relationship Type="http://schemas.openxmlformats.org/officeDocument/2006/relationships/notesMaster" Target="/ppt/notesMasters/notesMaster1.xml" Id="Ra0e2a3a2a8aa4380" /><Relationship Type="http://schemas.openxmlformats.org/officeDocument/2006/relationships/presProps" Target="/ppt/presProps.xml" Id="R291f136aaafc42ca" /><Relationship Type="http://schemas.openxmlformats.org/officeDocument/2006/relationships/viewProps" Target="/ppt/viewProps.xml" Id="R1c6885ad40d94a56" /><Relationship Type="http://schemas.openxmlformats.org/officeDocument/2006/relationships/tableStyles" Target="/ppt/tableStyles.xml" Id="Rbbfff43c697f40d6" /><Relationship Type="http://schemas.openxmlformats.org/officeDocument/2006/relationships/font" Target="/ppt/fonts/font.dat" Id="R9427634883844154" /><Relationship Type="http://schemas.openxmlformats.org/officeDocument/2006/relationships/font" Target="/ppt/fonts/font2.dat" Id="Rc31c5f8cbfec4fa4" /><Relationship Type="http://schemas.openxmlformats.org/officeDocument/2006/relationships/font" Target="/ppt/fonts/font3.dat" Id="R4e1ef36ffbd947ef" /><Relationship Type="http://schemas.openxmlformats.org/officeDocument/2006/relationships/font" Target="/ppt/fonts/font4.dat" Id="R769a62ad66064783" /><Relationship Type="http://schemas.openxmlformats.org/officeDocument/2006/relationships/font" Target="/ppt/fonts/font5.dat" Id="R735efcf026f14f41" /><Relationship Type="http://schemas.openxmlformats.org/officeDocument/2006/relationships/font" Target="/ppt/fonts/font6.dat" Id="Rc6d3be91bfb64fc9" /><Relationship Type="http://schemas.openxmlformats.org/officeDocument/2006/relationships/font" Target="/ppt/fonts/font7.dat" Id="R8737d327abe649e1" /><Relationship Type="http://schemas.openxmlformats.org/officeDocument/2006/relationships/font" Target="/ppt/fonts/font8.dat" Id="R8ed8f9bcee6a4419" /><Relationship Type="http://schemas.openxmlformats.org/officeDocument/2006/relationships/font" Target="/ppt/fonts/font9.dat" Id="R67e08d084969450a" /><Relationship Type="http://schemas.openxmlformats.org/officeDocument/2006/relationships/font" Target="/ppt/fonts/font10.dat" Id="R6a22e961e8744cc9" /><Relationship Type="http://schemas.openxmlformats.org/officeDocument/2006/relationships/font" Target="/ppt/fonts/font11.dat" Id="R591894d305744bc7" /><Relationship Type="http://schemas.openxmlformats.org/officeDocument/2006/relationships/font" Target="/ppt/fonts/font12.dat" Id="R15631681515e4e83" /><Relationship Type="http://schemas.openxmlformats.org/officeDocument/2006/relationships/slide" Target="/ppt/slides/slide1.xml" Id="R7d8a10a017054e1f" /><Relationship Type="http://schemas.openxmlformats.org/officeDocument/2006/relationships/slide" Target="/ppt/slides/slide2.xml" Id="Rf2dac6ecaec44afc" /><Relationship Type="http://schemas.openxmlformats.org/officeDocument/2006/relationships/slide" Target="/ppt/slides/slide3.xml" Id="R3b0a67aef86843f4" /><Relationship Type="http://schemas.openxmlformats.org/officeDocument/2006/relationships/slide" Target="/ppt/slides/slide4.xml" Id="R30db1d7b9efd4364" /><Relationship Type="http://schemas.openxmlformats.org/officeDocument/2006/relationships/slide" Target="/ppt/slides/slide5.xml" Id="Rd5ce5e11ed31474a" /><Relationship Type="http://schemas.openxmlformats.org/officeDocument/2006/relationships/slide" Target="/ppt/slides/slide6.xml" Id="R2ee3fe9900cb44d1" /><Relationship Type="http://schemas.openxmlformats.org/officeDocument/2006/relationships/slide" Target="/ppt/slides/slide7.xml" Id="R96ab97c71dc34106" /><Relationship Type="http://schemas.openxmlformats.org/officeDocument/2006/relationships/slide" Target="/ppt/slides/slide8.xml" Id="R145a3039f94846d2" /><Relationship Type="http://schemas.openxmlformats.org/officeDocument/2006/relationships/slide" Target="/ppt/slides/slide9.xml" Id="Re876ab8bd1bb4e08" /><Relationship Type="http://schemas.openxmlformats.org/officeDocument/2006/relationships/slide" Target="/ppt/slides/slide10.xml" Id="R2ffe5cf442184cba" /><Relationship Type="http://schemas.openxmlformats.org/officeDocument/2006/relationships/slide" Target="/ppt/slides/slide11.xml" Id="Rbf7fe485f4314d49" /><Relationship Type="http://schemas.openxmlformats.org/officeDocument/2006/relationships/slide" Target="/ppt/slides/slide12.xml" Id="R9b3f4ecc3bd44d7c" /><Relationship Type="http://schemas.openxmlformats.org/officeDocument/2006/relationships/slide" Target="/ppt/slides/slide13.xml" Id="R477ffcd436fa46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92574626c046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cd1da1c6fa4333" /><Relationship Type="http://schemas.openxmlformats.org/officeDocument/2006/relationships/notesMaster" Target="/ppt/notesMasters/notesMaster1.xml" Id="Rd71f8970297d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b0477541c24cd2" /><Relationship Type="http://schemas.openxmlformats.org/officeDocument/2006/relationships/notesMaster" Target="/ppt/notesMasters/notesMaster1.xml" Id="R9ca90129f08f4b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51a9bd2b94d96" /><Relationship Type="http://schemas.openxmlformats.org/officeDocument/2006/relationships/notesMaster" Target="/ppt/notesMasters/notesMaster1.xml" Id="R8c630b8b4c66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5abcc70894883" /><Relationship Type="http://schemas.openxmlformats.org/officeDocument/2006/relationships/notesMaster" Target="/ppt/notesMasters/notesMaster1.xml" Id="R36d202a7127a44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249a9c031d4c63" /><Relationship Type="http://schemas.openxmlformats.org/officeDocument/2006/relationships/notesMaster" Target="/ppt/notesMasters/notesMaster1.xml" Id="Rf4826fec27f044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8a41059d474ba2" /><Relationship Type="http://schemas.openxmlformats.org/officeDocument/2006/relationships/notesMaster" Target="/ppt/notesMasters/notesMaster1.xml" Id="Rac40927842aa47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73f4edeca04598" /><Relationship Type="http://schemas.openxmlformats.org/officeDocument/2006/relationships/notesMaster" Target="/ppt/notesMasters/notesMaster1.xml" Id="Rfd2eb3c2c36e40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c821740fd34285" /><Relationship Type="http://schemas.openxmlformats.org/officeDocument/2006/relationships/notesMaster" Target="/ppt/notesMasters/notesMaster1.xml" Id="Rd73f43ee86ce48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572b2612514154" /><Relationship Type="http://schemas.openxmlformats.org/officeDocument/2006/relationships/notesMaster" Target="/ppt/notesMasters/notesMaster1.xml" Id="Rda649358d7d240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07e628c41846d9" /><Relationship Type="http://schemas.openxmlformats.org/officeDocument/2006/relationships/notesMaster" Target="/ppt/notesMasters/notesMaster1.xml" Id="Rcf9b1b09625744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c26dbccd564484" /><Relationship Type="http://schemas.openxmlformats.org/officeDocument/2006/relationships/notesMaster" Target="/ppt/notesMasters/notesMaster1.xml" Id="Rf5905842dec746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5cb1caf287477d" /><Relationship Type="http://schemas.openxmlformats.org/officeDocument/2006/relationships/notesMaster" Target="/ppt/notesMasters/notesMaster1.xml" Id="R10452ad80b3a46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9f69e4db9c4855" /><Relationship Type="http://schemas.openxmlformats.org/officeDocument/2006/relationships/notesMaster" Target="/ppt/notesMasters/notesMaster1.xml" Id="R47d5a122229e45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Проектный контекст команды: context/BRIEF.md; context/MAIN_HYPOTHESIS.md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context/BRIEF.md — постановка кейса, требования и ограничения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https://x5club.ru/ — публичное описание функций X5 Клуба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Установка дня 2: https://docs.google.com/presentation/d/1xRBv8NT6J1UeCk7j2Txlznsg64Irp3bPE2SEsswa6gs/edit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inputs/2026-09-03/Постановка_и_проверка_продуктовых_гипотез.pdf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discovery/WORKFLOW.md; context/METHOD.md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https://www.tesco.com/groceries/en-GB/zone/clubcard-challenges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discovery/round-04/discovery.md — Tesco и сопоставимые grocery-механики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https://kuper.ru/blog/tpost/vau-poisk-v-samokate-ii-podberet-produkti-pod-lyubuyu-zadachu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context/MAIN_HYPOTHESIS.md — статус выбора референсов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discovery/HYPOTHESIS_WORKSHOP.md — H-MAIN-01, P-1/P-2/P-3, G-1/G-2/G-3 и кандидаты механик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context/MAIN_HYPOTHESIS.md — выбранное и открытые решения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context/MAIN_HYPOTHESIS.md; discovery/ONLINE_OFFLINE_BRIDGE.md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asset: inputs/2026-09-04/mascot-appi-references/03-ai-shopping-assistant.jpg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context/MAIN_HYPOTHESIS.md — SMART-проверка P-1/P-2/P-3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context/BRIEF.md — ≥70% релевантности на 30–50 профилях и экономика награды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inputs/2026-09-03/Постановка_и_проверка_продуктовых_гипотез.pdf — SMART и разделение гипотез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GitHub branch dima: data/v2/validation_report.md — 10,000 users, 703,200 unique receipts, 23/23 checks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GitHub branch web-setup: README.md; ARCHITECTURE.md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Ограничение: тесты и сервисы в этой сессии не запускались по просьбе пользователя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GitHub branch web-setup: README.md; ARCHITECTURE.md; BACKLOG.md; specs/; brainstorms/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GitHub branch dima: synth/challenges.py; synth/cli.py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Diagram inherited from the user-provided reference deck; its product-layer nodes represent planned integration where stated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context/MAIN_HYPOTHESIS.md — риски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context/BRIEF.md — ограничения данных и экономики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discovery/HYPOTHESIS_WORKSHOP.md — границы роли игры и маскота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Portal requirements supplied by the user on 04.09.2026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context/BRIEF.md; context/MAIN_HYPOTHESIS.md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GitHub branch web-setup: ARCHITECTURE.md; BACKLOG.md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team-role description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GitHub branches master, web-setup and dima — artifact inventory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context/BRIEF.md — критерии PoC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context/MAIN_HYPOTHESIS.md — выбранная цепочка и SMART-проверка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088e3ab2144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9336bb13d4d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ac67044cb49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80931b36f40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66d086c8849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e0bea8a884b2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be4b359224a1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465eb28be4da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8dd47005924a16" /><Relationship Type="http://schemas.openxmlformats.org/officeDocument/2006/relationships/slideLayout" Target="/ppt/slideLayouts/slideLayout1.xml" Id="R611ba5152afd4c1d" /><Relationship Type="http://schemas.openxmlformats.org/officeDocument/2006/relationships/slideLayout" Target="/ppt/slideLayouts/slideLayout2.xml" Id="R495bccac1fdd4028" /><Relationship Type="http://schemas.openxmlformats.org/officeDocument/2006/relationships/slideLayout" Target="/ppt/slideLayouts/slideLayout3.xml" Id="R4c1398ca497241e5" /><Relationship Type="http://schemas.openxmlformats.org/officeDocument/2006/relationships/slideLayout" Target="/ppt/slideLayouts/slideLayout4.xml" Id="R302587ae71104469" /><Relationship Type="http://schemas.openxmlformats.org/officeDocument/2006/relationships/slideLayout" Target="/ppt/slideLayouts/slideLayout5.xml" Id="R1bf811ba4c5d44e2" /><Relationship Type="http://schemas.openxmlformats.org/officeDocument/2006/relationships/slideLayout" Target="/ppt/slideLayouts/slideLayout6.xml" Id="Raadff97225fd4982" /><Relationship Type="http://schemas.openxmlformats.org/officeDocument/2006/relationships/slideLayout" Target="/ppt/slideLayouts/slideLayout7.xml" Id="R1524fa60b927481d" /><Relationship Type="http://schemas.openxmlformats.org/officeDocument/2006/relationships/slideLayout" Target="/ppt/slideLayouts/slideLayout8.xml" Id="R5f5a6bfc118142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1ba5152afd4c1d"/>
    <p:sldLayoutId xmlns:r="http://schemas.openxmlformats.org/officeDocument/2006/relationships" id="2147483650" r:id="R495bccac1fdd4028"/>
    <p:sldLayoutId xmlns:r="http://schemas.openxmlformats.org/officeDocument/2006/relationships" id="2147483651" r:id="R4c1398ca497241e5"/>
    <p:sldLayoutId xmlns:r="http://schemas.openxmlformats.org/officeDocument/2006/relationships" id="2147483652" r:id="R302587ae71104469"/>
    <p:sldLayoutId xmlns:r="http://schemas.openxmlformats.org/officeDocument/2006/relationships" id="2147483653" r:id="R1bf811ba4c5d44e2"/>
    <p:sldLayoutId xmlns:r="http://schemas.openxmlformats.org/officeDocument/2006/relationships" id="2147483654" r:id="Raadff97225fd4982"/>
    <p:sldLayoutId xmlns:r="http://schemas.openxmlformats.org/officeDocument/2006/relationships" id="2147483655" r:id="R1524fa60b927481d"/>
    <p:sldLayoutId xmlns:r="http://schemas.openxmlformats.org/officeDocument/2006/relationships" id="2147483656" r:id="R5f5a6bfc1181421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e3b6d29d34d14" /><Relationship Type="http://schemas.openxmlformats.org/officeDocument/2006/relationships/notesSlide" Target="/ppt/notesSlides/notesSlide1.xml" Id="R8ee9cb516e2145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f59a34f5443ce" /><Relationship Type="http://schemas.openxmlformats.org/officeDocument/2006/relationships/notesSlide" Target="/ppt/notesSlides/notesSlide2.xml" Id="R14a600e3d0f143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ea69c94d140c9" /><Relationship Type="http://schemas.openxmlformats.org/officeDocument/2006/relationships/notesSlide" Target="/ppt/notesSlides/notesSlide3.xml" Id="Rb876958d437b41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16fd44a3e419d" /><Relationship Type="http://schemas.openxmlformats.org/officeDocument/2006/relationships/notesSlide" Target="/ppt/notesSlides/notesSlide4.xml" Id="Ra04c55bf4fc242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6dbb53a744732" /><Relationship Type="http://schemas.openxmlformats.org/officeDocument/2006/relationships/notesSlide" Target="/ppt/notesSlides/notesSlide5.xml" Id="R2172e1de219e40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15b699b144294" /><Relationship Type="http://schemas.openxmlformats.org/officeDocument/2006/relationships/image" Target="/ppt/media/image.jpeg" Id="R4747df5cbb994d19" /><Relationship Type="http://schemas.openxmlformats.org/officeDocument/2006/relationships/notesSlide" Target="/ppt/notesSlides/notesSlide6.xml" Id="R10c385abcc024e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f1fa455df4238" /><Relationship Type="http://schemas.openxmlformats.org/officeDocument/2006/relationships/notesSlide" Target="/ppt/notesSlides/notesSlide7.xml" Id="Rb01549bb7e1a42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5ecb5ba774ef9" /><Relationship Type="http://schemas.openxmlformats.org/officeDocument/2006/relationships/notesSlide" Target="/ppt/notesSlides/notesSlide8.xml" Id="R372709d57fcc42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ba2ef577b64a21" /><Relationship Type="http://schemas.openxmlformats.org/officeDocument/2006/relationships/image" Target="/ppt/media/architecture.png" Id="R897146b8fb104ac2" /><Relationship Type="http://schemas.openxmlformats.org/officeDocument/2006/relationships/notesSlide" Target="/ppt/notesSlides/notesSlide9.xml" Id="Rb1f7d1536a7549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dbb8f69344750" /><Relationship Type="http://schemas.openxmlformats.org/officeDocument/2006/relationships/notesSlide" Target="/ppt/notesSlides/notesSlide10.xml" Id="R4c622fbd4e2a47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18f33b81b4599" /><Relationship Type="http://schemas.openxmlformats.org/officeDocument/2006/relationships/notesSlide" Target="/ppt/notesSlides/notesSlide11.xml" Id="R2b9fff3d313440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b616becb945b1" /><Relationship Type="http://schemas.openxmlformats.org/officeDocument/2006/relationships/notesSlide" Target="/ppt/notesSlides/notesSlide12.xml" Id="Ra2be081a941140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b787f94c64ee0" /><Relationship Type="http://schemas.openxmlformats.org/officeDocument/2006/relationships/notesSlide" Target="/ppt/notesSlides/notesSlide13.xml" Id="R2aa532cb8c844a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202020"/>
                </a:solidFill>
                <a:latin typeface="Lora"/>
                <a:ea typeface="Lora"/>
                <a:cs typeface="Lora"/>
              </a:rPr>
              <a:t>Аппи: персональная выгода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202020"/>
                </a:solidFill>
                <a:latin typeface="Lora"/>
                <a:ea typeface="Lora"/>
                <a:cs typeface="Lora"/>
              </a:rPr>
              <a:t>из каждой покупки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707070"/>
                </a:solidFill>
              </a:rPr>
              <a:t>Промежуточная версия · продуктовая гипотеза и текущий статус · 4 сентября 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5A1F"/>
                </a:solidFill>
                <a:latin typeface="Roboto"/>
                <a:ea typeface="Roboto"/>
                <a:cs typeface="Roboto"/>
              </a:rPr>
              <a:t>X5 AI LOYALTY · ХАКАТОН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>
                <a:solidFill>
                  <a:srgbClr val="707070"/>
                </a:solidFill>
              </a:rPr>
              <a:t>2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202020"/>
                </a:solidFill>
              </a:rPr>
              <a:t>Акции и игры разрознены —</a:t>
            </a:r>
          </a:p>
          <a:p xmlns:a="http://schemas.openxmlformats.org/drawingml/2006/main">
            <a:pPr algn="ctr">
              <a:buNone/>
            </a:pPr>
            <a:r>
              <a:rPr sz="3600">
                <a:solidFill>
                  <a:srgbClr val="202020"/>
                </a:solidFill>
              </a:rPr>
              <a:t>следующий полезный шаг неочевиден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>
                <a:solidFill>
                  <a:srgbClr val="202020"/>
                </a:solidFill>
              </a:rPr>
              <a:t>Рабочая гипотеза: покупателю сложно быстро понять личную выгоду и выбрать действие, которое вписывается в его обычную продуктовую задачу.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>
                <a:solidFill>
                  <a:srgbClr val="202020"/>
                </a:solidFill>
              </a:rPr>
              <a:t>Цель кейса — повысить частоту покупок, сохранив маржу на участника. Наличие проблемы и продуктовый эффект ещё предстоит проверить.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707070"/>
                </a:solidFill>
                <a:latin typeface="Roboto"/>
                <a:ea typeface="Roboto"/>
                <a:cs typeface="Roboto"/>
              </a:rPr>
              <a:t>ПРОБЛЕМА И ЦЕЛЬ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rgbClr val="707070"/>
                </a:solidFill>
              </a:rPr>
              <a:t>3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Discovery: широкий контекст → проверяемая гипотеза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5A1F"/>
                </a:solidFill>
              </a:rPr>
              <a:t>1 · РАСШИРИТЬ КОНТЕКСТ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>30+ аналогов: grocery, loyalty, AI-поиск, игры, рефералы. Факт отделяем от маркетинговых заявлений.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3 · ПРОВЕРИТЬ БЫСТРО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SMART: метрика, порог, метод, срок и fail-условие. Синтетика — screening, не доказательство спроса.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2 · СФОРМУЛИРОВАТЬ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15 кандидатов: кому, в какой ситуации, какая боль и какое изменение поведения ожидаем.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Сначала разделяем гипотезу сегмента, проблемы и решения. Механика без метрики и критерия решения остаётся идеей.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rgbClr val="707070"/>
                </a:solidFill>
              </a:rPr>
              <a:t>4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Три паттерна, из которых складывается концепция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5A1F"/>
                </a:solidFill>
              </a:rPr>
              <a:t>TESCO CLUBCARD CHALLENGES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>Несколько персональных заданий, выбор пользователем, измеримый прогресс и награда.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САМОКАТ + ЛАВКА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AI переводит бытовую задачу в план; игра живёт рядом с полезным покупательским сценарием.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OZON «МОРКОВСК»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Развивающийся мир делает результат видимым и создаёт короткий ритуал возврата.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Ориентиры для синтеза, а не доказательство эффекта и не готовый список MVP.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Пять гипотез — каждая отвечает на отдельный риск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5A1F"/>
                </a:solidFill>
              </a:rPr>
              <a:t>Не складываем всё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5A1F"/>
                </a:solidFill>
              </a:rPr>
              <a:t>в один MVP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H1 · главный экран повышает заметность миссии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Проверяем отдельно: заметность, полезность, игровой возврат, связь с офлайном и экономику.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Влад выбрал направление H-MAIN-01; размещение P-1/P-2/P-3 и финальные 2–3 механики ещё открыты.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H2 · progress bar делает экономию понятной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H3 · AI-план превращает задачу в 2–3 миссии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H4 · чек + маршрут/самовывоз замыкают офлайн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H5 · «три в ряд» полезен игровому сегменту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rgbClr val="707070"/>
                </a:solidFill>
              </a:rPr>
              <a:t>6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Аппи связывает AI-план с офлайн-покупкой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7df5cbb994d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5A1F"/>
                </a:solidFill>
              </a:rPr>
              <a:t>Полезность сначала,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5A1F"/>
                </a:solidFill>
              </a:rPr>
              <a:t>игровой слой — сверху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Бытовая задача → AI-план → выбор миссий → маршрут по отделам или самовывоз → зачёт по карте и чеку → объяснение экономии → развитие мира.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Маскот объясняет следующий шаг и причину персонализации; его можно убрать, не разрушив полезный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rgbClr val="707070"/>
                </a:solidFill>
              </a:rPr>
              <a:t>7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До финала проверяем три разных вида неизвестного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5A1F"/>
                </a:solidFill>
              </a:rPr>
              <a:t>ПРОБЛЕМА / UX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>6 synthetic-профилей × P-1/P-2/P-3. Метрики: заметил миссию, понял шаг, нашёл карту или каталог. Результат — screening вопросов.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ПРОДУКТ / ЭКОНОМИКА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Будущий A/B: exposure → activation → offline action → completion. Маржа после награды и каннибализация — guardrails.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AI / РЕЛЕВАНТНОСТЬ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30–50 blind-профилей, независимая разметка; цель кейса ≥70%. Проверяем причину, запреты и fallback.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Один тест не отвечает сразу за desirability, качество рекомендаций и экономику — критерии разделены.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Техническая база готова для проверки, эффект ещё не доказан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В ветках web-setup и dima есть платформенные и ML-артефакты. Числа ниже подтверждают объём и целостность синтетики, а не uplift реального продукта.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5A1F"/>
                </a:solidFill>
              </a:rPr>
              <a:t>10 000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202020"/>
                </a:solidFill>
              </a:rPr>
              <a:t>синтетических пользователей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5A1F"/>
                </a:solidFill>
              </a:rPr>
              <a:t>703 200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202020"/>
                </a:solidFill>
              </a:rPr>
              <a:t>уникальных чеков в validation report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5A1F"/>
                </a:solidFill>
              </a:rPr>
              <a:t>23/23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202020"/>
                </a:solidFill>
              </a:rPr>
              <a:t>проверки целостности данных пройдены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rgbClr val="707070"/>
                </a:solidFill>
              </a:rPr>
              <a:t>9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Реализован контур данных; продуктовый слой связываем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146b8fb104a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5A1F"/>
                </a:solidFill>
              </a:rPr>
              <a:t>Сейчас: API, auth,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5A1F"/>
                </a:solidFill>
              </a:rPr>
              <a:t>синтетика и роутер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web-setup: FastAPI + PostgreSQL, JWT и terminal token; Expo-экран пока статичен и не подключён к API.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dima: observable-only признаки → personal / generic / no challenge → guardrails. Челленджи, прогресс, economy API и async LLM описаны как следующий слой.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Три риска определяют качество следующей проверки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5A1F"/>
                </a:solidFill>
              </a:rPr>
              <a:t>ПРОБЛЕМА / СПРОС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>Нет реальных интервью и поведения X5. Синтетические аватары улучшают вопросы, но не доказывают спрос.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ДАННЫЕ / ЭКОНОМИКА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Нет реальных агрегатов и калибровки маржи. Награда может субсидировать естественную покупку.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РЕШЕНИЕ / SCOPE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Главный экран может мешать карте и каталогу; маскот может казаться детским; 2–3 механики ещё не выбраны.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Главная опасность — принять технически связный сценарий за подтверждённую ценность. Каждый риск получает отдельный тест.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11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До финала: проверить главный риск и связать демо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5A1F"/>
                </a:solidFill>
              </a:rPr>
              <a:t>Сначала выбор и тест,</a:t>
            </a:r>
            <a:endParaRPr>
              <a:solidFill>
                <a:srgbClr val="FF4305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5A1F"/>
                </a:solidFill>
              </a:rPr>
              <a:t>затем сборка</a:t>
            </a:r>
            <a:endParaRPr>
              <a:solidFill>
                <a:srgbClr val="FF4305"/>
              </a:solidFill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Влад: virtual custdev + P-1/P-2/P-3 + метрики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Замораживаем один основной сценарий и 2–3 механики после screening. Для каждого результата сохраняем статус: факт, synthetic, inference или unknown.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202020"/>
                </a:solidFill>
              </a:rPr>
              <a:t>Финальный питч показывает путь от аналога и гипотезы до решения в интерфейсе, модели и API.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Дмитрий: blind relevance + guardrails + demo output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Павел: связать mobile → API → purchase event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Команда: offline bridge + экономика + fail-условия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202020"/>
                </a:solidFill>
              </a:rPr>
              <a:t>Финал: demo, пилот-план, описание и Q&amp;A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12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02020"/>
                </a:solidFill>
              </a:rPr>
              <a:t>Команда и текущая степень участия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5A1F"/>
                </a:solidFill>
              </a:rPr>
              <a:t>ВЛАД СЕМЕНОВ · PRODUCT OWNER</a:t>
            </a:r>
            <a:endParaRPr sz="1800">
              <a:solidFill>
                <a:srgbClr val="FF4709"/>
              </a:solidFill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>Аналоги, гипотезы, метрики, custdev-протокол, презентация.</a:t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/>
            </a:r>
            <a:endParaRPr sz="1800"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202020"/>
                </a:solidFill>
              </a:rPr>
              <a:t>Текущий вклад: ведёт продуктовый выбор и доказательный контур.</a:t>
            </a:r>
            <a:endParaRPr sz="1800"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97627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ДМИТРИЙ · ML / DATA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Синтетика, профили, рекомендатор/LLM, guardrails и антифрод.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/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Текущий вклад: ML/data pipeline и генерация челленджей.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83461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5A1F"/>
                </a:solidFill>
              </a:rPr>
              <a:t>ПАВЕЛ · BACKEND / MOBILE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202020"/>
                </a:solidFill>
              </a:rPr>
              <a:t>FastAPI, PostgreSQL, auth, Docker, Expo scaffold и интеграция.</a:t>
            </a:r>
          </a:p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  <a:p xmlns:a="http://schemas.openxmlformats.org/drawingml/2006/main">
            <a:pPr marL="0" indent="0">
              <a:buNone/>
            </a:pPr>
            <a:r>
              <a:rPr>
                <a:solidFill>
                  <a:srgbClr val="222222"/>
                </a:solidFill>
              </a:rPr>
              <a:t>Текущий вклад: платформенная реализация и клиентский контур.</a:t>
            </a:r>
            <a:endParaRPr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707070"/>
                </a:solidFill>
              </a:rPr>
              <a:t>Степень участия показана через фактически созданные артефакты и текущую зону ответственности.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707070"/>
                </a:solidFill>
              </a:rPr>
              <a:t>X5 AI Loyalty · Hackathon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13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>
                <a:solidFill>
                  <a:srgbClr val="202020"/>
                </a:solidFill>
              </a:rPr>
              <a:t>Доказать не набор фич,</a:t>
            </a:r>
          </a:p>
          <a:p xmlns:a="http://schemas.openxmlformats.org/drawingml/2006/main">
            <a:pPr algn="ctr">
              <a:buNone/>
            </a:pPr>
            <a:r>
              <a:rPr sz="3600">
                <a:solidFill>
                  <a:srgbClr val="202020"/>
                </a:solidFill>
              </a:rPr>
              <a:t>а путь от боли к покупке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>
                <a:solidFill>
                  <a:srgbClr val="202020"/>
                </a:solidFill>
              </a:rPr>
              <a:t>Широкий контекст → выбранная гипотеза → SMART-проверка → персональная миссия → офлайн-действие → зачёт по чеку → понятная выгода.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>
                <a:solidFill>
                  <a:srgbClr val="202020"/>
                </a:solidFill>
              </a:rPr>
              <a:t>Готовность: релевантность ≥70% на 30–50 профилях, связанный demo-flow и экономика с явными допущениями и fail-условием.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707070"/>
                </a:solidFill>
                <a:latin typeface="Roboto"/>
                <a:ea typeface="Roboto"/>
                <a:cs typeface="Roboto"/>
              </a:rPr>
              <a:t>К ФИНАЛЬНОЙ ЗАЩИТЕ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2026-09-03T22:31:00.6590000Z</dcterms:created>
  <dcterms:modified xsi:type="dcterms:W3CDTF">2026-09-03T22:31:00.6590000Z</dcterms:modified>
</coreProperties>
</file>