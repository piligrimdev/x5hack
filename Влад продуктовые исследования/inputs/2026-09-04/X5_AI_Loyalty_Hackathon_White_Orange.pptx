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10.dat" ContentType="application/x-fontdata"/>
  <Override PartName="/ppt/fonts/font11.dat" ContentType="application/x-fontdata"/>
  <Override PartName="/ppt/fonts/font12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fonts/font6.dat" ContentType="application/x-fontdata"/>
  <Override PartName="/ppt/fonts/font7.dat" ContentType="application/x-fontdata"/>
  <Override PartName="/ppt/fonts/font8.dat" ContentType="application/x-fontdata"/>
  <Override PartName="/ppt/fonts/font9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fc5adea246a46d7" Type="http://schemas.openxmlformats.org/officeDocument/2006/relationships/extended-properties" Target="docProps/app.xml"/><Relationship Id="R8069c853ffae4154" Type="http://schemas.openxmlformats.org/package/2006/relationships/metadata/core-properties" Target="docProps/core.xml"/><Relationship Id="R8edc1f09cb964a5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21010e8c3c1421b"/>
  </p:sldMasterIdLst>
  <p:notesMasterIdLst>
    <p:notesMasterId xmlns:r="http://schemas.openxmlformats.org/officeDocument/2006/relationships" r:id="R0132e67094eb4948"/>
  </p:notesMasterIdLst>
  <p:sldIdLst>
    <p:sldId xmlns:r="http://schemas.openxmlformats.org/officeDocument/2006/relationships" id="256" r:id="R7984f97187d547d9"/>
    <p:sldId xmlns:r="http://schemas.openxmlformats.org/officeDocument/2006/relationships" id="257" r:id="R660827ed21134501"/>
    <p:sldId xmlns:r="http://schemas.openxmlformats.org/officeDocument/2006/relationships" id="258" r:id="R905bc126d1484e69"/>
    <p:sldId xmlns:r="http://schemas.openxmlformats.org/officeDocument/2006/relationships" id="259" r:id="R32ecd48e64d0410a"/>
    <p:sldId xmlns:r="http://schemas.openxmlformats.org/officeDocument/2006/relationships" id="262" r:id="Rff9835517ce74e9d"/>
    <p:sldId xmlns:r="http://schemas.openxmlformats.org/officeDocument/2006/relationships" id="263" r:id="R398f4d4c46e94b9b"/>
    <p:sldId xmlns:r="http://schemas.openxmlformats.org/officeDocument/2006/relationships" id="264" r:id="R95cad1a318834410"/>
    <p:sldId xmlns:r="http://schemas.openxmlformats.org/officeDocument/2006/relationships" id="265" r:id="Rd1043df261d6438f"/>
    <p:sldId xmlns:r="http://schemas.openxmlformats.org/officeDocument/2006/relationships" id="266" r:id="Ref0142652bd74ce5"/>
    <p:sldId xmlns:r="http://schemas.openxmlformats.org/officeDocument/2006/relationships" id="267" r:id="R898e1378019944bb"/>
  </p:sldIdLst>
  <p:sldSz cx="12192000" cy="6858000"/>
  <p:notesSz cx="6858000" cy="9144000"/>
  <p:embeddedFontLst>
    <p:embeddedFont>
      <p:font typeface="Lora"/>
      <p:regular xmlns:r="http://schemas.openxmlformats.org/officeDocument/2006/relationships" r:id="R6de5f2e93f6347e2"/>
      <p:bold xmlns:r="http://schemas.openxmlformats.org/officeDocument/2006/relationships" r:id="R2a641d3579ff46ac"/>
      <p:italic xmlns:r="http://schemas.openxmlformats.org/officeDocument/2006/relationships" r:id="R50ddb8ac4aec4fbe"/>
      <p:boldItalic xmlns:r="http://schemas.openxmlformats.org/officeDocument/2006/relationships" r:id="Rc2da74e0738d4c31"/>
    </p:embeddedFont>
    <p:embeddedFont>
      <p:font typeface="OpenAI Sans"/>
      <p:regular xmlns:r="http://schemas.openxmlformats.org/officeDocument/2006/relationships" r:id="R95b883906f00470c"/>
      <p:bold xmlns:r="http://schemas.openxmlformats.org/officeDocument/2006/relationships" r:id="Rd8451306b60a4358"/>
      <p:italic xmlns:r="http://schemas.openxmlformats.org/officeDocument/2006/relationships" r:id="R51207ff399314f00"/>
      <p:boldItalic xmlns:r="http://schemas.openxmlformats.org/officeDocument/2006/relationships" r:id="Re36b58945a5d411f"/>
    </p:embeddedFont>
    <p:embeddedFont>
      <p:font typeface="Roboto"/>
      <p:regular xmlns:r="http://schemas.openxmlformats.org/officeDocument/2006/relationships" r:id="Re2ca8c98a5b4479c"/>
      <p:bold xmlns:r="http://schemas.openxmlformats.org/officeDocument/2006/relationships" r:id="Rcafa42ab4b824f4f"/>
      <p:italic xmlns:r="http://schemas.openxmlformats.org/officeDocument/2006/relationships" r:id="R24a2d435bbda4230"/>
      <p:boldItalic xmlns:r="http://schemas.openxmlformats.org/officeDocument/2006/relationships" r:id="Rc04dd0e980b242b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132e67094eb4948" Type="http://schemas.openxmlformats.org/officeDocument/2006/relationships/notesMaster" Target="notesMasters/notesMaster1.xml"/><Relationship Id="R17cc85916a5440ad" Type="http://schemas.openxmlformats.org/officeDocument/2006/relationships/tableStyles" Target="tableStyles.xml"/><Relationship Id="R24a2d435bbda4230" Type="http://schemas.openxmlformats.org/officeDocument/2006/relationships/font" Target="fonts/font11.dat"/><Relationship Id="R2a641d3579ff46ac" Type="http://schemas.openxmlformats.org/officeDocument/2006/relationships/font" Target="fonts/font2.dat"/><Relationship Id="R32ecd48e64d0410a" Type="http://schemas.openxmlformats.org/officeDocument/2006/relationships/slide" Target="slides/slide4.xml"/><Relationship Id="R398f4d4c46e94b9b" Type="http://schemas.openxmlformats.org/officeDocument/2006/relationships/slide" Target="slides/slide7.xml"/><Relationship Id="R3c543a1b188f4ac6" Type="http://schemas.openxmlformats.org/officeDocument/2006/relationships/presProps" Target="presProps.xml"/><Relationship Id="R3dacd317ea6b4ba7" Type="http://schemas.openxmlformats.org/officeDocument/2006/relationships/theme" Target="theme/theme1.xml"/><Relationship Id="R50ddb8ac4aec4fbe" Type="http://schemas.openxmlformats.org/officeDocument/2006/relationships/font" Target="fonts/font3.dat"/><Relationship Id="R51207ff399314f00" Type="http://schemas.openxmlformats.org/officeDocument/2006/relationships/font" Target="fonts/font7.dat"/><Relationship Id="R660827ed21134501" Type="http://schemas.openxmlformats.org/officeDocument/2006/relationships/slide" Target="slides/slide2.xml"/><Relationship Id="R6de5f2e93f6347e2" Type="http://schemas.openxmlformats.org/officeDocument/2006/relationships/font" Target="fonts/font.dat"/><Relationship Id="R6e6622e3c62c4ab3" Type="http://schemas.openxmlformats.org/officeDocument/2006/relationships/viewProps" Target="viewProps.xml"/><Relationship Id="R7984f97187d547d9" Type="http://schemas.openxmlformats.org/officeDocument/2006/relationships/slide" Target="slides/slide1.xml"/><Relationship Id="R898e1378019944bb" Type="http://schemas.openxmlformats.org/officeDocument/2006/relationships/slide" Target="slides/slide11.xml"/><Relationship Id="R905bc126d1484e69" Type="http://schemas.openxmlformats.org/officeDocument/2006/relationships/slide" Target="slides/slide3.xml"/><Relationship Id="R95b883906f00470c" Type="http://schemas.openxmlformats.org/officeDocument/2006/relationships/font" Target="fonts/font5.dat"/><Relationship Id="R95cad1a318834410" Type="http://schemas.openxmlformats.org/officeDocument/2006/relationships/slide" Target="slides/slide8.xml"/><Relationship Id="Rc04dd0e980b242b3" Type="http://schemas.openxmlformats.org/officeDocument/2006/relationships/font" Target="fonts/font12.dat"/><Relationship Id="Rc2da74e0738d4c31" Type="http://schemas.openxmlformats.org/officeDocument/2006/relationships/font" Target="fonts/font4.dat"/><Relationship Id="Rcafa42ab4b824f4f" Type="http://schemas.openxmlformats.org/officeDocument/2006/relationships/font" Target="fonts/font10.dat"/><Relationship Id="Rd1043df261d6438f" Type="http://schemas.openxmlformats.org/officeDocument/2006/relationships/slide" Target="slides/slide9.xml"/><Relationship Id="Rd8451306b60a4358" Type="http://schemas.openxmlformats.org/officeDocument/2006/relationships/font" Target="fonts/font6.dat"/><Relationship Id="Re21010e8c3c1421b" Type="http://schemas.openxmlformats.org/officeDocument/2006/relationships/slideMaster" Target="slideMasters/slideMaster1.xml"/><Relationship Id="Re2ca8c98a5b4479c" Type="http://schemas.openxmlformats.org/officeDocument/2006/relationships/font" Target="fonts/font9.dat"/><Relationship Id="Re36b58945a5d411f" Type="http://schemas.openxmlformats.org/officeDocument/2006/relationships/font" Target="fonts/font8.dat"/><Relationship Id="Ref0142652bd74ce5" Type="http://schemas.openxmlformats.org/officeDocument/2006/relationships/slide" Target="slides/slide10.xml"/><Relationship Id="Rff9835517ce74e9d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0a7369e91b8540c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0e4a8630d7e4ba5" Type="http://schemas.openxmlformats.org/officeDocument/2006/relationships/notesMaster" Target="../notesMasters/notesMaster1.xml"/><Relationship Id="Rc6bd37170cff4c9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7e73c538fa847c5" Type="http://schemas.openxmlformats.org/officeDocument/2006/relationships/slide" Target="../slides/slide2.xml"/><Relationship Id="Rfffd7283da9d425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fc4ee366163411f" Type="http://schemas.openxmlformats.org/officeDocument/2006/relationships/slide" Target="../slides/slide3.xml"/><Relationship Id="R9b4a4549499141c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661c480c9e74d12" Type="http://schemas.openxmlformats.org/officeDocument/2006/relationships/slide" Target="../slides/slide4.xml"/><Relationship Id="R610d5a7cd3714bb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3350fd5a1b344bb" Type="http://schemas.openxmlformats.org/officeDocument/2006/relationships/slide" Target="../slides/slide6.xml"/><Relationship Id="Rf391b05ffad14a2a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97e7d04724f409f" Type="http://schemas.openxmlformats.org/officeDocument/2006/relationships/notesMaster" Target="../notesMasters/notesMaster1.xml"/><Relationship Id="Raaca5b2c5ebc4418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b785a82545c7404c" Type="http://schemas.openxmlformats.org/officeDocument/2006/relationships/notesMaster" Target="../notesMasters/notesMaster1.xml"/><Relationship Id="Rbdf0f4bba5dd4ccf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67863663e01c48b6" Type="http://schemas.openxmlformats.org/officeDocument/2006/relationships/notesMaster" Target="../notesMasters/notesMaster1.xml"/><Relationship Id="Rba798520339b4384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751a93d016bf4e52" Type="http://schemas.openxmlformats.org/officeDocument/2006/relationships/notesMaster" Target="../notesMasters/notesMaster1.xml"/><Relationship Id="Rd3e4fc0c3a7b427e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d98a372628054fe4" Type="http://schemas.openxmlformats.org/officeDocument/2006/relationships/notesMaster" Target="../notesMasters/notesMaster1.xml"/><Relationship Id="Rf5eb22c0016a4860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/Users/dimonzhi/Documents/proga/AI_hack/CLAUDE.md</a:t>
            </a:r>
            <a:endParaRPr/>
          </a:p>
          <a:p xmlns:a="http://schemas.openxmlformats.org/drawingml/2006/main">
            <a:r>
              <a:t>- /Users/dimonzhi/Documents/proga/AI_hack/CONTEXT_PACK.md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§§1–2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§§1, 3, 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/Users/dimonzhi/Documents/proga/AI_hack/Skills-Results/x5-gamified-loyalty-layer/market-research/2026-09-02_16-02_x5-gamified-loyalty-layer-market-research-result.md — §§2–4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/Users/dimonzhi/Documents/proga/AI_hack/synth/features.py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/Users/dimonzhi/Documents/proga/AI_hack/synth/challenges.py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/Users/dimonzhi/Documents/proga/AI_hack/synth/simulation.py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/Users/dimonzhi/Documents/proga/AI_hack/config/synth_schema.yaml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/Users/dimonzhi/Documents/proga/AI_hack/data/v2/challenges.json — user_id dc680de0-78ad-41e8-8a90-eb1ba6603b06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/Users/dimonzhi/Documents/proga/AI_hack/synth/challenges.py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/Users/dimonzhi/Documents/proga/AI_hack/data/v2/challenges.json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/Users/dimonzhi/Documents/proga/AI_hack/data/v2/answer_key_draft.json — all 40 labels are draft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/Users/dimonzhi/Documents/proga/AI_hack/data/v2/simulation_report.json — unvalidated modeling assumptions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§§3–4, 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/Users/dimonzhi/Documents/proga/AI_hack/data/v2/simulation_report.json — assumptions.note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/Users/dimonzhi/Documents/proga/AI_hack/CLAUDE.md — ownership and unowned work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§§3, 6–8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/Users/dimonzhi/Documents/proga/AI_hack/data/v2/answer_key_draft.json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§8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/Users/dimonzhi/Documents/proga/AI_hack/CLAUDE.md — Team ownership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/Users/dimonzhi/Documents/proga/AI_hack/synth/ and /Users/dimonzhi/Documents/proga/AI_hack/data/v2/ — repository artifact inventory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/Users/dimonzhi/Documents/proga/AI_hack/CONTEXT_PACK.md — requirements and H1–H4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/Users/dimonzhi/Documents/proga/AI_hack/data/v2/answer_key_draft.json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/Users/dimonzhi/Documents/proga/AI_hack/data/v2/simulation_report.json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1664555e400478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d9e2d870ec440b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4ce1a71feee438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1bb883b5aa134c1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3b2b7ffc7c8415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a73581eb6be473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7973005fbc748d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b24110e01a6f42e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139385e2a4d46fb" Type="http://schemas.openxmlformats.org/officeDocument/2006/relationships/slideLayout" Target="../slideLayouts/slideLayout2.xml"/><Relationship Id="R7047395505214fe0" Type="http://schemas.openxmlformats.org/officeDocument/2006/relationships/theme" Target="theme/theme2.xml"/><Relationship Id="R77e47d1792fe4b38" Type="http://schemas.openxmlformats.org/officeDocument/2006/relationships/slideLayout" Target="../slideLayouts/slideLayout3.xml"/><Relationship Id="R91c633d8f0624fa5" Type="http://schemas.openxmlformats.org/officeDocument/2006/relationships/slideLayout" Target="../slideLayouts/slideLayout4.xml"/><Relationship Id="Rc0245839005f455f" Type="http://schemas.openxmlformats.org/officeDocument/2006/relationships/slideLayout" Target="../slideLayouts/slideLayout8.xml"/><Relationship Id="Rc2a48f1589ec466e" Type="http://schemas.openxmlformats.org/officeDocument/2006/relationships/slideLayout" Target="../slideLayouts/slideLayout6.xml"/><Relationship Id="Rcfafa51b02be4301" Type="http://schemas.openxmlformats.org/officeDocument/2006/relationships/slideLayout" Target="../slideLayouts/slideLayout1.xml"/><Relationship Id="Rd28d39ee0af94a57" Type="http://schemas.openxmlformats.org/officeDocument/2006/relationships/slideLayout" Target="../slideLayouts/slideLayout7.xml"/><Relationship Id="Re3d354c6fd34475f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fa51b02be4301"/>
    <p:sldLayoutId xmlns:r="http://schemas.openxmlformats.org/officeDocument/2006/relationships" id="2147483650" r:id="R5139385e2a4d46fb"/>
    <p:sldLayoutId xmlns:r="http://schemas.openxmlformats.org/officeDocument/2006/relationships" id="2147483651" r:id="R77e47d1792fe4b38"/>
    <p:sldLayoutId xmlns:r="http://schemas.openxmlformats.org/officeDocument/2006/relationships" id="2147483652" r:id="R91c633d8f0624fa5"/>
    <p:sldLayoutId xmlns:r="http://schemas.openxmlformats.org/officeDocument/2006/relationships" id="2147483653" r:id="Re3d354c6fd34475f"/>
    <p:sldLayoutId xmlns:r="http://schemas.openxmlformats.org/officeDocument/2006/relationships" id="2147483654" r:id="Rc2a48f1589ec466e"/>
    <p:sldLayoutId xmlns:r="http://schemas.openxmlformats.org/officeDocument/2006/relationships" id="2147483655" r:id="Rd28d39ee0af94a57"/>
    <p:sldLayoutId xmlns:r="http://schemas.openxmlformats.org/officeDocument/2006/relationships" id="2147483656" r:id="Rc0245839005f455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ff51756ba7b4e39" Type="http://schemas.openxmlformats.org/officeDocument/2006/relationships/slideLayout" Target="../slideLayouts/slideLayout1.xml"/><Relationship Id="R5b8f5d151f034b6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76119c58bd640a1" Type="http://schemas.openxmlformats.org/officeDocument/2006/relationships/slideLayout" Target="../slideLayouts/slideLayout6.xml"/><Relationship Id="Rc9928655bb4f4ee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e707447c04e45c7" Type="http://schemas.openxmlformats.org/officeDocument/2006/relationships/slideLayout" Target="../slideLayouts/slideLayout6.xml"/><Relationship Id="Rb8a8a308bf55424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680080a31564729" Type="http://schemas.openxmlformats.org/officeDocument/2006/relationships/slideLayout" Target="../slideLayouts/slideLayout6.xml"/><Relationship Id="Raa69117fed444e31" Type="http://schemas.openxmlformats.org/officeDocument/2006/relationships/notesSlide" Target="../notesSlides/notesSlide4.xml"/><Relationship Id="Rca61960b496a45c5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c6dd9d6d4f0f44a6" Type="http://schemas.openxmlformats.org/officeDocument/2006/relationships/slideLayout" Target="../slideLayouts/slideLayout6.xml"/><Relationship Id="Rebee614618ef4e85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04bca3fae382491d" Type="http://schemas.openxmlformats.org/officeDocument/2006/relationships/notesSlide" Target="../notesSlides/notesSlide8.xml"/><Relationship Id="R84649c2f9b044339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0e47add2501741d9" Type="http://schemas.openxmlformats.org/officeDocument/2006/relationships/notesSlide" Target="../notesSlides/notesSlide9.xml"/><Relationship Id="R929f6012743a4902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5eb250560ab74df2" Type="http://schemas.openxmlformats.org/officeDocument/2006/relationships/slideLayout" Target="../slideLayouts/slideLayout6.xml"/><Relationship Id="Rf3ddda678dfc4b20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46d8844ba8f446e8" Type="http://schemas.openxmlformats.org/officeDocument/2006/relationships/notesSlide" Target="../notesSlides/notesSlide11.xml"/><Relationship Id="R5842b6a485954544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628f32c0061845f5" Type="http://schemas.openxmlformats.org/officeDocument/2006/relationships/notesSlide" Target="../notesSlides/notesSlide12.xml"/><Relationship Id="Rf32402a77d3a4333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202020"/>
                </a:solidFill>
                <a:latin typeface="Lora"/>
                <a:ea typeface="Lora"/>
                <a:cs typeface="Lora"/>
              </a:rPr>
              <a:t>X5: экономия,</a:t>
            </a:r>
            <a:br>
              <a:rPr>
                <a:solidFill>
                  <a:srgbClr val="202020"/>
                </a:solidFill>
              </a:rPr>
            </a:br>
            <a:r>
              <a:rPr sz="7200">
                <a:solidFill>
                  <a:srgbClr val="202020"/>
                </a:solidFill>
                <a:latin typeface="Lora"/>
                <a:ea typeface="Lora"/>
                <a:cs typeface="Lora"/>
              </a:rPr>
              <a:t>которая удерживает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707070"/>
                </a:solidFill>
              </a:rPr>
              <a:t>ИИ-слой лояльности · рабочая версия · 3 сентября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5A1F"/>
                </a:solidFill>
                <a:latin typeface="Roboto"/>
                <a:ea typeface="Roboto"/>
                <a:cs typeface="Roboto"/>
              </a:rPr>
              <a:t>ХАКАТОН · ТЕКУЩИЙ СТАТУС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rgbClr val="707070"/>
                </a:solidFill>
              </a:rPr>
              <a:t>2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Игровые механики есть —</a:t>
            </a:r>
            <a:br>
              <a:rPr>
                <a:solidFill>
                  <a:srgbClr val="202020"/>
                </a:solidFill>
              </a:rPr>
            </a:br>
            <a:r>
              <a:rPr sz="3600">
                <a:solidFill>
                  <a:srgbClr val="FF5A1F"/>
                </a:solidFill>
              </a:rPr>
              <a:t>личная выгода не видна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Пользователь видит баллы, акции и игры, но не получает простой ответ: сколько он уже сэкономил и что сделать дальше.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Мы решаем не «ещё одну игру», а низкий retention между покупками — через персональную экономию, понятную за несколько секунд.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707070"/>
                </a:solidFill>
                <a:latin typeface="Roboto"/>
                <a:ea typeface="Roboto"/>
                <a:cs typeface="Roboto"/>
              </a:rPr>
              <a:t>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rgbClr val="707070"/>
                </a:solidFill>
              </a:rPr>
              <a:t>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Задача — замкнуть три механики на одну Job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ПЕРСОНАЛЬНЫЙ ЧЕЛЛЕНДЖ · H2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ИИ выбирает действие из истории чеков и объясняет, почему оно релевантно.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СОЦИАЛЬНЫЙ ПРОГРЕСС · H1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Рейтинг дома или района показывает динамику без раскрытия личности.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ВИДИМАЯ ЭКОНОМИЯ · H3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Дашборд и аватар переводят баллы и скидки в одну понятную цифру прогресса.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Для активных, но «застрявших» пользователей X5: помочь вести хозяйство экономнее без лишнего внимания. Фокус — offline-first, синтетические данные, без ФИО и адресов.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rgbClr val="707070"/>
                </a:solidFill>
              </a:rPr>
              <a:t>4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Решение разделяет данные и «истину» симуляции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1960b496a45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Guardrails встроены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до вызова модели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Train-период даёт только наблюдаемые признаки: частоту, категории, промо и выходные. Роутер решает: персональный челлендж, безопасный generic или no challenge.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Скрытые параметры не попадают в рекомендатор — они используются только в симуляторе H1/H4.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Демо: один профиль → один объяснимый оффер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«Выходной завтрак»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молоко + выпечка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Основано на истории чеков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Сигнал из train-истории: 59 чеков, 61% покупок — в выходные; молочная продукция и выпечка — две ведущие категории.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Предложение: купить обе категории одним чеком в субботу или воскресенье и получить 80 ₽ на следующую покупку.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Reward 80 ₽ не превышает лимит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Чувствительные категории исключены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Причина хранится вместе с оффером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Слабый сигнал → generic / без оффера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H2/H4: hit rate выше цели, экономика — sensitivity-тест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На 40 профилях — 35 попаданий (H2), answer key ещё draft. H4: net value устойчив даже при заниженных допущениях; добавлен канал роста среднего чека.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87,5%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hit rate: 35/40 против цели ≥70%*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2,53%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сценарный uplift частоты на 10 000 пользователей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+3,05%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прирост оборота — канал spend-threshold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Три риска определяют качество финальной защиты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ДАННЫЕ / CIRCULARITY · H2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Нет реальных агрегатов X5; Дима строит и данные, и модель. Нужны blind labels от Паши или Влада.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ПРОДУКТ / ДЕМО · H1/H3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UI, аватар и рейтинг не представлены в repo. Нужен связанный сценарий и privacy-safe opt-in для рейтинга.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ЭКОНОМИКА · H4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Sensitivity и fail-условие для H4 посчитаны; не хватает владельца unit-экономики и реальных данных для калибровки.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Главная опасность — спутать хорошо протестированный симулятор с доказанным эффектом продукта. Каждый риск закрывается отдельным артефактом.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До финала нужен доказательный контур, не новые фичи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Критический путь: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валидировать → связать → показать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Паша / Влад: подтвердить 40 blind labels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Замораживаем scope: челлендж, видимая экономия, рейтинг. Реферал и антифрод остаются опциональными.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Каждая следующая задача должна улучшать одну из трёх защитных метрик: relevance, margin, privacy.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Дима: пересчитать hit rate + sensitivity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Паша + Влад: связать 3–4 экрана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Команда: назначить owner экономики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Финал: запись demo + репетиция Q&amp;A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Команда и текущая степень участия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ПАША · PRODUCT / UI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Кликабельный прототип, demo flow, blind review.
Степень: средняя; зона активна, UI-артефакты в repo ожидаются.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ДИМА · ML / DATA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Синтетика, рекомендации, симуляция H1/H4.
Степень: высокая; code, data, tests и reports готовы.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9126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ВЛАД · DESIGN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UX, визуальная система, проверка интерфейса, blind review.
Степень: средняя; дизайн ведётся вне текущего repo.</a:t>
            </a:r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Оценка опирается на артефакты репозитория и зоны ответственности из CONTEXT_PACK. Unit economics пока без отдельного владельца.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Нам нужно доказать</a:t>
            </a:r>
            <a:br>
              <a:rPr>
                <a:solidFill>
                  <a:srgbClr val="202020"/>
                </a:solidFill>
              </a:rPr>
            </a:br>
            <a:r>
              <a:rPr sz="3600">
                <a:solidFill>
                  <a:srgbClr val="FF5A1F"/>
                </a:solidFill>
              </a:rPr>
              <a:t>не фичу, а цепочку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Релевантный челлендж (H2) → заметная экономия (H3) → доп. действие пользователя (H1) → положительная маржа (H4).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Критерий готовности: подтверждённый hit rate ≥70%, связанный demo-сценарий и экономика с sensitivity и fail-условиями.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707070"/>
                </a:solidFill>
                <a:latin typeface="Roboto"/>
                <a:ea typeface="Roboto"/>
                <a:cs typeface="Roboto"/>
              </a:rPr>
              <a:t>К ФИНАЛЬНОЙ ЗАЩИТЕ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2026-09-03T21:13:59.4950000Z</dcterms:created>
  <dcterms:modified xsi:type="dcterms:W3CDTF">2026-09-03T21:13:59.4950000Z</dcterms:modified>
</coreProperties>
</file>